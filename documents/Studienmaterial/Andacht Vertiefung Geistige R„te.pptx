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62" r:id="rId4"/>
    <p:sldId id="257" r:id="rId5"/>
    <p:sldId id="264" r:id="rId6"/>
    <p:sldId id="267" r:id="rId7"/>
    <p:sldId id="271" r:id="rId8"/>
    <p:sldId id="261" r:id="rId9"/>
    <p:sldId id="258" r:id="rId10"/>
    <p:sldId id="260" r:id="rId11"/>
    <p:sldId id="265" r:id="rId12"/>
    <p:sldId id="268" r:id="rId13"/>
    <p:sldId id="266" r:id="rId14"/>
    <p:sldId id="273"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6" d="100"/>
          <a:sy n="106" d="100"/>
        </p:scale>
        <p:origin x="70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de-DE"/>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828DF37F-332A-4119-893C-23054EE5D410}" type="datetimeFigureOut">
              <a:rPr lang="de-DE" smtClean="0"/>
              <a:t>03.02.2022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1884817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828DF37F-332A-4119-893C-23054EE5D410}" type="datetimeFigureOut">
              <a:rPr lang="de-DE" smtClean="0"/>
              <a:t>03.02.2022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4079987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de-DE"/>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828DF37F-332A-4119-893C-23054EE5D410}" type="datetimeFigureOut">
              <a:rPr lang="de-DE" smtClean="0"/>
              <a:t>03.02.2022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3734405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828DF37F-332A-4119-893C-23054EE5D410}" type="datetimeFigureOut">
              <a:rPr lang="de-DE" smtClean="0"/>
              <a:t>03.02.2022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2397420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de-DE"/>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828DF37F-332A-4119-893C-23054EE5D410}" type="datetimeFigureOut">
              <a:rPr lang="de-DE" smtClean="0"/>
              <a:t>03.02.2022</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2125349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828DF37F-332A-4119-893C-23054EE5D410}" type="datetimeFigureOut">
              <a:rPr lang="de-DE" smtClean="0"/>
              <a:t>03.02.2022</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137840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828DF37F-332A-4119-893C-23054EE5D410}" type="datetimeFigureOut">
              <a:rPr lang="de-DE" smtClean="0"/>
              <a:t>03.02.2022</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357019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828DF37F-332A-4119-893C-23054EE5D410}" type="datetimeFigureOut">
              <a:rPr lang="de-DE" smtClean="0"/>
              <a:t>03.02.2022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3857709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828DF37F-332A-4119-893C-23054EE5D410}" type="datetimeFigureOut">
              <a:rPr lang="de-DE" smtClean="0"/>
              <a:t>03.02.2022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2405253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828DF37F-332A-4119-893C-23054EE5D410}" type="datetimeFigureOut">
              <a:rPr lang="de-DE" smtClean="0"/>
              <a:t>03.02.2022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3508812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828DF37F-332A-4119-893C-23054EE5D410}" type="datetimeFigureOut">
              <a:rPr lang="de-DE" smtClean="0"/>
              <a:t>03.02.2022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6DC585AC-9EA2-4C4D-BFEC-1122C96DBB70}" type="slidenum">
              <a:rPr lang="de-DE" smtClean="0"/>
              <a:t>‹Nr.›</a:t>
            </a:fld>
            <a:endParaRPr lang="de-DE"/>
          </a:p>
        </p:txBody>
      </p:sp>
    </p:spTree>
    <p:extLst>
      <p:ext uri="{BB962C8B-B14F-4D97-AF65-F5344CB8AC3E}">
        <p14:creationId xmlns:p14="http://schemas.microsoft.com/office/powerpoint/2010/main" val="2434071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pic>
        <p:nvPicPr>
          <p:cNvPr id="7" name="Grafik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57930"/>
            <a:ext cx="12192000" cy="8161656"/>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8DF37F-332A-4119-893C-23054EE5D410}" type="datetimeFigureOut">
              <a:rPr lang="de-DE" smtClean="0"/>
              <a:t>03.02.2022</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C585AC-9EA2-4C4D-BFEC-1122C96DBB70}" type="slidenum">
              <a:rPr lang="de-DE" smtClean="0"/>
              <a:t>‹Nr.›</a:t>
            </a:fld>
            <a:endParaRPr lang="de-DE"/>
          </a:p>
        </p:txBody>
      </p:sp>
    </p:spTree>
    <p:extLst>
      <p:ext uri="{BB962C8B-B14F-4D97-AF65-F5344CB8AC3E}">
        <p14:creationId xmlns:p14="http://schemas.microsoft.com/office/powerpoint/2010/main" val="3089871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457960" y="416559"/>
            <a:ext cx="9276080" cy="1122363"/>
          </a:xfrm>
          <a:effectLst>
            <a:outerShdw blurRad="50800" dist="50800" dir="5400000" algn="t" rotWithShape="0">
              <a:prstClr val="black">
                <a:alpha val="40000"/>
              </a:prstClr>
            </a:outerShdw>
          </a:effectLst>
        </p:spPr>
        <p:txBody>
          <a:bodyPr>
            <a:normAutofit/>
          </a:bodyPr>
          <a:lstStyle/>
          <a:p>
            <a:r>
              <a:rPr lang="de-DE" sz="6600" b="1" spc="300" dirty="0" smtClean="0">
                <a:solidFill>
                  <a:schemeClr val="bg1"/>
                </a:solidFill>
                <a:latin typeface="+mn-lt"/>
              </a:rPr>
              <a:t>Soul-Food Andacht</a:t>
            </a:r>
            <a:endParaRPr lang="de-DE" sz="6600" b="1" spc="300" dirty="0">
              <a:solidFill>
                <a:schemeClr val="bg1"/>
              </a:solidFill>
              <a:latin typeface="+mn-lt"/>
            </a:endParaRPr>
          </a:p>
        </p:txBody>
      </p:sp>
      <p:sp>
        <p:nvSpPr>
          <p:cNvPr id="5" name="Untertitel 4"/>
          <p:cNvSpPr>
            <a:spLocks noGrp="1"/>
          </p:cNvSpPr>
          <p:nvPr>
            <p:ph type="subTitle" idx="1"/>
          </p:nvPr>
        </p:nvSpPr>
        <p:spPr>
          <a:xfrm>
            <a:off x="3997960" y="5723070"/>
            <a:ext cx="4196080" cy="1071562"/>
          </a:xfrm>
          <a:effectLst>
            <a:outerShdw blurRad="50800" dist="50800" dir="5400000" algn="t" rotWithShape="0">
              <a:prstClr val="black">
                <a:alpha val="40000"/>
              </a:prstClr>
            </a:outerShdw>
          </a:effectLst>
        </p:spPr>
        <p:txBody>
          <a:bodyPr>
            <a:noAutofit/>
          </a:bodyPr>
          <a:lstStyle/>
          <a:p>
            <a:r>
              <a:rPr lang="de-DE" sz="3200" b="1" dirty="0" smtClean="0">
                <a:solidFill>
                  <a:schemeClr val="bg1"/>
                </a:solidFill>
              </a:rPr>
              <a:t>Mittwoch, 18.08.2021</a:t>
            </a:r>
          </a:p>
          <a:p>
            <a:r>
              <a:rPr lang="de-DE" sz="3200" b="1" dirty="0" smtClean="0">
                <a:solidFill>
                  <a:schemeClr val="bg1"/>
                </a:solidFill>
              </a:rPr>
              <a:t>Thema: Dankbarkeit</a:t>
            </a:r>
            <a:endParaRPr lang="de-DE" sz="3200" b="1" dirty="0">
              <a:solidFill>
                <a:schemeClr val="bg1"/>
              </a:solidFill>
            </a:endParaRPr>
          </a:p>
        </p:txBody>
      </p:sp>
    </p:spTree>
    <p:extLst>
      <p:ext uri="{BB962C8B-B14F-4D97-AF65-F5344CB8AC3E}">
        <p14:creationId xmlns:p14="http://schemas.microsoft.com/office/powerpoint/2010/main" val="3395704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4326903"/>
            <a:ext cx="10515600" cy="2036189"/>
          </a:xfrm>
          <a:solidFill>
            <a:schemeClr val="tx1">
              <a:lumMod val="95000"/>
              <a:lumOff val="5000"/>
              <a:alpha val="50000"/>
            </a:schemeClr>
          </a:solidFill>
        </p:spPr>
        <p:txBody>
          <a:bodyPr vert="horz" lIns="91440" tIns="45720" rIns="91440" bIns="45720" rtlCol="0">
            <a:normAutofit/>
          </a:bodyPr>
          <a:lstStyle/>
          <a:p>
            <a:pPr marL="0" indent="0" algn="ctr">
              <a:buNone/>
            </a:pPr>
            <a:endParaRPr lang="de-DE" sz="4600" b="1" dirty="0" smtClean="0">
              <a:solidFill>
                <a:schemeClr val="bg1"/>
              </a:solidFill>
            </a:endParaRPr>
          </a:p>
          <a:p>
            <a:pPr marL="0" indent="0" algn="ctr">
              <a:buNone/>
            </a:pPr>
            <a:r>
              <a:rPr lang="de-DE" sz="4600" b="1" dirty="0" smtClean="0">
                <a:solidFill>
                  <a:schemeClr val="bg1"/>
                </a:solidFill>
              </a:rPr>
              <a:t>Musik</a:t>
            </a:r>
          </a:p>
          <a:p>
            <a:pPr marL="0" indent="0" algn="ctr">
              <a:lnSpc>
                <a:spcPct val="110000"/>
              </a:lnSpc>
              <a:spcBef>
                <a:spcPts val="0"/>
              </a:spcBef>
              <a:buNone/>
            </a:pPr>
            <a:endParaRPr lang="de-DE" dirty="0" smtClean="0">
              <a:solidFill>
                <a:schemeClr val="bg1"/>
              </a:solidFill>
            </a:endParaRPr>
          </a:p>
        </p:txBody>
      </p:sp>
    </p:spTree>
    <p:extLst>
      <p:ext uri="{BB962C8B-B14F-4D97-AF65-F5344CB8AC3E}">
        <p14:creationId xmlns:p14="http://schemas.microsoft.com/office/powerpoint/2010/main" val="270339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930445"/>
            <a:ext cx="10515600" cy="4845468"/>
          </a:xfrm>
          <a:solidFill>
            <a:schemeClr val="tx1">
              <a:lumMod val="95000"/>
              <a:lumOff val="5000"/>
              <a:alpha val="50000"/>
            </a:schemeClr>
          </a:solidFill>
        </p:spPr>
        <p:txBody>
          <a:bodyPr vert="horz" lIns="91440" tIns="45720" rIns="91440" bIns="45720" rtlCol="0">
            <a:normAutofit fontScale="77500" lnSpcReduction="20000"/>
          </a:bodyPr>
          <a:lstStyle/>
          <a:p>
            <a:pPr marL="0" indent="0" algn="just">
              <a:buNone/>
            </a:pPr>
            <a:r>
              <a:rPr lang="de-DE" sz="3600" dirty="0">
                <a:solidFill>
                  <a:schemeClr val="bg1"/>
                </a:solidFill>
              </a:rPr>
              <a:t>Mein Gott, mein Angebeteter, mein König, meine Sehnsucht! Welche Zunge könnte meinen Dank an Dich bekunden? Ich war achtlos, Du aber erwecktest mich. Ich hatte mich von Dir abgewandt, Du aber </a:t>
            </a:r>
            <a:r>
              <a:rPr lang="de-DE" sz="3600" dirty="0" err="1">
                <a:solidFill>
                  <a:schemeClr val="bg1"/>
                </a:solidFill>
              </a:rPr>
              <a:t>halfest</a:t>
            </a:r>
            <a:r>
              <a:rPr lang="de-DE" sz="3600" dirty="0">
                <a:solidFill>
                  <a:schemeClr val="bg1"/>
                </a:solidFill>
              </a:rPr>
              <a:t> mir gnädig, dass ich mich Dir wieder zukehrte. Ich glich einem Toten, Du aber belebtest mich mit dem Wasser des Lebens. Ich war wie verdorrt, Du aber erquicktest mich mit dem himmlischen Strom Deiner Worte, die sich aus der Feder des Allbarmherzigen ergossen.</a:t>
            </a:r>
          </a:p>
          <a:p>
            <a:pPr marL="0" indent="0" algn="just">
              <a:buNone/>
            </a:pPr>
            <a:r>
              <a:rPr lang="de-DE" sz="3600" dirty="0">
                <a:solidFill>
                  <a:schemeClr val="bg1"/>
                </a:solidFill>
              </a:rPr>
              <a:t>O göttliche Vorsehung! Alles Dasein ist durch Deine Gnadenfülle erzeugt; beraube es nicht der Wasser Deiner Großmut und versage ihm nicht das Meer Deines Erbarmens. Ich bitte Dich flehentlich, stehe mir allezeit, in jeder Lage bei und hilf mir, da ich nach Deiner </a:t>
            </a:r>
            <a:r>
              <a:rPr lang="de-DE" sz="3600" dirty="0" err="1">
                <a:solidFill>
                  <a:schemeClr val="bg1"/>
                </a:solidFill>
              </a:rPr>
              <a:t>urewigen</a:t>
            </a:r>
            <a:r>
              <a:rPr lang="de-DE" sz="3600" dirty="0">
                <a:solidFill>
                  <a:schemeClr val="bg1"/>
                </a:solidFill>
              </a:rPr>
              <a:t> Gunst aus dem Himmel Deiner Gnade trachte. Du bist in Wahrheit der Herr der Großmut, der Herrscher im Reiche der Ewigkeit</a:t>
            </a:r>
            <a:r>
              <a:rPr lang="de-DE" sz="3600" dirty="0" smtClean="0">
                <a:solidFill>
                  <a:schemeClr val="bg1"/>
                </a:solidFill>
              </a:rPr>
              <a:t>. </a:t>
            </a:r>
            <a:r>
              <a:rPr lang="de-DE" sz="2600" dirty="0" smtClean="0">
                <a:solidFill>
                  <a:schemeClr val="bg1"/>
                </a:solidFill>
              </a:rPr>
              <a:t>					</a:t>
            </a:r>
          </a:p>
          <a:p>
            <a:pPr marL="0" indent="0">
              <a:buNone/>
            </a:pPr>
            <a:r>
              <a:rPr lang="de-DE" sz="2600" dirty="0">
                <a:solidFill>
                  <a:schemeClr val="bg1"/>
                </a:solidFill>
              </a:rPr>
              <a:t>	</a:t>
            </a:r>
            <a:r>
              <a:rPr lang="de-DE" sz="2600" dirty="0" smtClean="0">
                <a:solidFill>
                  <a:schemeClr val="bg1"/>
                </a:solidFill>
              </a:rPr>
              <a:t>								</a:t>
            </a:r>
            <a:r>
              <a:rPr lang="de-DE" sz="2000" dirty="0" smtClean="0">
                <a:solidFill>
                  <a:schemeClr val="bg1"/>
                </a:solidFill>
              </a:rPr>
              <a:t>BAHÁ’U’LLÁH</a:t>
            </a:r>
            <a:endParaRPr lang="de-DE" sz="2000" dirty="0">
              <a:solidFill>
                <a:schemeClr val="bg1"/>
              </a:solidFill>
            </a:endParaRPr>
          </a:p>
        </p:txBody>
      </p:sp>
    </p:spTree>
    <p:extLst>
      <p:ext uri="{BB962C8B-B14F-4D97-AF65-F5344CB8AC3E}">
        <p14:creationId xmlns:p14="http://schemas.microsoft.com/office/powerpoint/2010/main" val="85158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797560" y="870584"/>
            <a:ext cx="10515600" cy="5417093"/>
          </a:xfrm>
          <a:solidFill>
            <a:schemeClr val="tx1">
              <a:lumMod val="95000"/>
              <a:lumOff val="5000"/>
              <a:alpha val="50000"/>
            </a:schemeClr>
          </a:solidFill>
        </p:spPr>
        <p:txBody>
          <a:bodyPr vert="horz" lIns="91440" tIns="45720" rIns="91440" bIns="45720" rtlCol="0">
            <a:normAutofit fontScale="77500" lnSpcReduction="20000"/>
          </a:bodyPr>
          <a:lstStyle/>
          <a:p>
            <a:pPr marL="0" indent="0" algn="just">
              <a:buNone/>
            </a:pPr>
            <a:r>
              <a:rPr lang="de-DE" sz="3600" dirty="0">
                <a:solidFill>
                  <a:schemeClr val="bg1"/>
                </a:solidFill>
              </a:rPr>
              <a:t>Versucht von ganzem Herzen, willige Kanäle für Gottes Segensüberfluss zu werden, denn ich sage euch, dass Er euch als Boten Seiner Liebe für die ganze Welt erkoren hat, als Träger Seiner geistigen Gaben für den Menschen und zu Mitteln, die der Verbreitung von Einigkeit und Harmonie auf Erden dienen. Danket Gott aus Herzensgrund, dass euch ein derartiges Vorrecht eingeräumt ward, denn ein Leben voller Dank ist nicht zu lang, um Gott für eine solche Gunst zu danken</a:t>
            </a:r>
            <a:r>
              <a:rPr lang="de-DE" sz="3600" dirty="0" smtClean="0">
                <a:solidFill>
                  <a:schemeClr val="bg1"/>
                </a:solidFill>
              </a:rPr>
              <a:t>.</a:t>
            </a:r>
            <a:endParaRPr lang="de-DE" sz="3600" i="1" dirty="0" smtClean="0">
              <a:solidFill>
                <a:schemeClr val="bg1"/>
              </a:solidFill>
            </a:endParaRPr>
          </a:p>
          <a:p>
            <a:pPr marL="0" indent="0" algn="just">
              <a:buNone/>
            </a:pPr>
            <a:r>
              <a:rPr lang="de-DE" sz="3600" dirty="0" smtClean="0">
                <a:solidFill>
                  <a:schemeClr val="bg1"/>
                </a:solidFill>
              </a:rPr>
              <a:t>Hebt </a:t>
            </a:r>
            <a:r>
              <a:rPr lang="de-DE" sz="3600" dirty="0">
                <a:solidFill>
                  <a:schemeClr val="bg1"/>
                </a:solidFill>
              </a:rPr>
              <a:t>eure Herzen über die Gegenwart hinaus und blickt mit gläubigen Augen in die Zukunft. Jetzt ist die Zeit der Saat, der Same fällt zu Boden, aber siehe, der Tag wird kommen, da aus ihm ein herrlicher Baum ersteht, und seine Zweige werden reiche Früchte tragen. Jubelt und seid froh, dass dieser Tag heraufstieg. Trachtet, seine Macht zu erkennen, denn er ist wahrhaft wunderbar. Gott hat euch mit Ehre gekrönt und einen strahlenden Stern ins Herz gegeben. Wahrlich, sein Leuchten wird die ganze Welt erhellen.					</a:t>
            </a:r>
            <a:endParaRPr lang="de-DE" sz="3600" dirty="0" smtClean="0">
              <a:solidFill>
                <a:schemeClr val="bg1"/>
              </a:solidFill>
            </a:endParaRPr>
          </a:p>
          <a:p>
            <a:pPr marL="0" indent="0">
              <a:buNone/>
            </a:pPr>
            <a:r>
              <a:rPr lang="de-DE" sz="3600" dirty="0">
                <a:solidFill>
                  <a:schemeClr val="bg1"/>
                </a:solidFill>
              </a:rPr>
              <a:t>	</a:t>
            </a:r>
            <a:r>
              <a:rPr lang="de-DE" sz="3600" dirty="0" smtClean="0">
                <a:solidFill>
                  <a:schemeClr val="bg1"/>
                </a:solidFill>
              </a:rPr>
              <a:t>							</a:t>
            </a:r>
            <a:r>
              <a:rPr lang="de-DE" dirty="0" smtClean="0">
                <a:solidFill>
                  <a:schemeClr val="bg1">
                    <a:lumMod val="95000"/>
                  </a:schemeClr>
                </a:solidFill>
              </a:rPr>
              <a:t>'ABDU'L-BAHÁ</a:t>
            </a:r>
            <a:endParaRPr lang="de-DE" dirty="0">
              <a:solidFill>
                <a:schemeClr val="bg1">
                  <a:lumMod val="95000"/>
                </a:schemeClr>
              </a:solidFill>
            </a:endParaRPr>
          </a:p>
          <a:p>
            <a:pPr marL="0" indent="0">
              <a:buNone/>
            </a:pPr>
            <a:endParaRPr lang="de-DE" sz="2000" dirty="0">
              <a:solidFill>
                <a:schemeClr val="bg1"/>
              </a:solidFill>
            </a:endParaRPr>
          </a:p>
        </p:txBody>
      </p:sp>
    </p:spTree>
    <p:extLst>
      <p:ext uri="{BB962C8B-B14F-4D97-AF65-F5344CB8AC3E}">
        <p14:creationId xmlns:p14="http://schemas.microsoft.com/office/powerpoint/2010/main" val="2492593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561474"/>
            <a:ext cx="10515600" cy="5214439"/>
          </a:xfrm>
          <a:solidFill>
            <a:schemeClr val="tx1">
              <a:lumMod val="95000"/>
              <a:lumOff val="5000"/>
              <a:alpha val="50000"/>
            </a:schemeClr>
          </a:solidFill>
        </p:spPr>
        <p:txBody>
          <a:bodyPr vert="horz" lIns="91440" tIns="45720" rIns="91440" bIns="45720" rtlCol="0">
            <a:normAutofit fontScale="92500" lnSpcReduction="20000"/>
          </a:bodyPr>
          <a:lstStyle/>
          <a:p>
            <a:pPr marL="0" indent="0" algn="just">
              <a:buNone/>
            </a:pPr>
            <a:r>
              <a:rPr lang="de-DE" sz="3900" dirty="0">
                <a:solidFill>
                  <a:schemeClr val="bg1"/>
                </a:solidFill>
              </a:rPr>
              <a:t>Die göttlichen Tugenden und Eigenschaften sind alle klar und offenbar; sie wurden in allen heiligen Büchern erwähnt und beschrieben. Unter ihnen sind </a:t>
            </a:r>
            <a:r>
              <a:rPr lang="de-DE" sz="3900" dirty="0" smtClean="0">
                <a:solidFill>
                  <a:schemeClr val="bg1"/>
                </a:solidFill>
              </a:rPr>
              <a:t>Vertrau-</a:t>
            </a:r>
            <a:r>
              <a:rPr lang="de-DE" sz="3900" dirty="0" err="1" smtClean="0">
                <a:solidFill>
                  <a:schemeClr val="bg1"/>
                </a:solidFill>
              </a:rPr>
              <a:t>enswürdigkeit</a:t>
            </a:r>
            <a:r>
              <a:rPr lang="de-DE" sz="3900" dirty="0">
                <a:solidFill>
                  <a:schemeClr val="bg1"/>
                </a:solidFill>
              </a:rPr>
              <a:t>, Wahrhaftigkeit, Reinheit des </a:t>
            </a:r>
            <a:r>
              <a:rPr lang="de-DE" sz="3900" dirty="0" smtClean="0">
                <a:solidFill>
                  <a:schemeClr val="bg1"/>
                </a:solidFill>
              </a:rPr>
              <a:t>Herzens </a:t>
            </a:r>
            <a:r>
              <a:rPr lang="de-DE" sz="3900" dirty="0">
                <a:solidFill>
                  <a:schemeClr val="bg1"/>
                </a:solidFill>
              </a:rPr>
              <a:t>in der Zwiesprache mit Gott, Langmut, </a:t>
            </a:r>
            <a:r>
              <a:rPr lang="de-DE" sz="3900" dirty="0" smtClean="0">
                <a:solidFill>
                  <a:schemeClr val="bg1"/>
                </a:solidFill>
              </a:rPr>
              <a:t>Ergebenheit </a:t>
            </a:r>
            <a:r>
              <a:rPr lang="de-DE" sz="3900" dirty="0">
                <a:solidFill>
                  <a:schemeClr val="bg1"/>
                </a:solidFill>
              </a:rPr>
              <a:t>in alles, was der Allmächtige verordnet, </a:t>
            </a:r>
            <a:r>
              <a:rPr lang="de-DE" sz="3900" dirty="0" smtClean="0">
                <a:solidFill>
                  <a:schemeClr val="bg1"/>
                </a:solidFill>
              </a:rPr>
              <a:t>Zufriedenheit </a:t>
            </a:r>
            <a:r>
              <a:rPr lang="de-DE" sz="3900" dirty="0">
                <a:solidFill>
                  <a:schemeClr val="bg1"/>
                </a:solidFill>
              </a:rPr>
              <a:t>mit allem, was sein Wille bestimmt, Geduld, ja Dankbarkeit inmitten von Leiderfahrungen und vollkommenes Vertrauen auf Ihn in allen Lebenslagen. Nach Gottes Werturteil zählen diese Tugenden zu den höchsten und lobenswertesten aller Taten.</a:t>
            </a:r>
            <a:r>
              <a:rPr lang="de-DE" sz="3900" dirty="0" smtClean="0">
                <a:solidFill>
                  <a:schemeClr val="bg1"/>
                </a:solidFill>
              </a:rPr>
              <a:t>	</a:t>
            </a:r>
          </a:p>
          <a:p>
            <a:pPr marL="0" indent="0">
              <a:buNone/>
            </a:pPr>
            <a:r>
              <a:rPr lang="de-DE" sz="2600" dirty="0">
                <a:solidFill>
                  <a:schemeClr val="bg1"/>
                </a:solidFill>
              </a:rPr>
              <a:t>	</a:t>
            </a:r>
            <a:r>
              <a:rPr lang="de-DE" sz="2600" dirty="0" smtClean="0">
                <a:solidFill>
                  <a:schemeClr val="bg1"/>
                </a:solidFill>
              </a:rPr>
              <a:t>							</a:t>
            </a:r>
            <a:r>
              <a:rPr lang="de-DE" sz="2200" dirty="0" smtClean="0">
                <a:solidFill>
                  <a:schemeClr val="bg1"/>
                </a:solidFill>
              </a:rPr>
              <a:t>'ABDU'L-BAHÁ</a:t>
            </a:r>
            <a:endParaRPr lang="de-DE" sz="2200" dirty="0">
              <a:solidFill>
                <a:schemeClr val="bg1"/>
              </a:solidFill>
            </a:endParaRPr>
          </a:p>
        </p:txBody>
      </p:sp>
    </p:spTree>
    <p:extLst>
      <p:ext uri="{BB962C8B-B14F-4D97-AF65-F5344CB8AC3E}">
        <p14:creationId xmlns:p14="http://schemas.microsoft.com/office/powerpoint/2010/main" val="301430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946483"/>
            <a:ext cx="10515600" cy="4829429"/>
          </a:xfrm>
          <a:solidFill>
            <a:schemeClr val="tx1">
              <a:lumMod val="95000"/>
              <a:lumOff val="5000"/>
              <a:alpha val="50000"/>
            </a:schemeClr>
          </a:solidFill>
        </p:spPr>
        <p:txBody>
          <a:bodyPr vert="horz" lIns="91440" tIns="45720" rIns="91440" bIns="45720" rtlCol="0">
            <a:normAutofit lnSpcReduction="10000"/>
          </a:bodyPr>
          <a:lstStyle/>
          <a:p>
            <a:pPr marL="0" indent="0" algn="just">
              <a:buNone/>
            </a:pPr>
            <a:r>
              <a:rPr lang="de-DE" sz="3800" dirty="0">
                <a:solidFill>
                  <a:schemeClr val="bg1"/>
                </a:solidFill>
              </a:rPr>
              <a:t>Er ist Gott! O Herr, wie sollen wir Dir danken! Grenzenlos ist Deine Großmut, und unsere Dankbarkeit ist nur begrenzt. Wie kann das Begrenzte dem Grenzenlosen Dank erweisen! Unfähig sind wir, Dir Dank zu sagen für Deine Gnadengaben. Völlig machtlos wenden wir uns Deinem Reiche zu und bitten Dich, Deine Gaben und Segnungen zu mehren. Du bist der Geber, der Schenkende, der Gewaltige</a:t>
            </a:r>
            <a:r>
              <a:rPr lang="de-DE" sz="3800" dirty="0" smtClean="0">
                <a:solidFill>
                  <a:schemeClr val="bg1"/>
                </a:solidFill>
              </a:rPr>
              <a:t>.</a:t>
            </a:r>
          </a:p>
          <a:p>
            <a:pPr marL="0" indent="0" algn="just">
              <a:buNone/>
            </a:pPr>
            <a:r>
              <a:rPr lang="de-DE" sz="2600" dirty="0" smtClean="0">
                <a:solidFill>
                  <a:schemeClr val="bg1">
                    <a:lumMod val="95000"/>
                  </a:schemeClr>
                </a:solidFill>
              </a:rPr>
              <a:t>								</a:t>
            </a:r>
            <a:r>
              <a:rPr lang="de-DE" sz="2000" dirty="0" smtClean="0">
                <a:solidFill>
                  <a:schemeClr val="bg1">
                    <a:lumMod val="95000"/>
                  </a:schemeClr>
                </a:solidFill>
              </a:rPr>
              <a:t>'ABDU'L-BAHÁ</a:t>
            </a:r>
          </a:p>
          <a:p>
            <a:pPr marL="0" indent="0">
              <a:buNone/>
            </a:pPr>
            <a:endParaRPr lang="de-DE" sz="2000" dirty="0">
              <a:solidFill>
                <a:schemeClr val="bg1">
                  <a:lumMod val="95000"/>
                </a:schemeClr>
              </a:solidFill>
            </a:endParaRPr>
          </a:p>
        </p:txBody>
      </p:sp>
    </p:spTree>
    <p:extLst>
      <p:ext uri="{BB962C8B-B14F-4D97-AF65-F5344CB8AC3E}">
        <p14:creationId xmlns:p14="http://schemas.microsoft.com/office/powerpoint/2010/main" val="242745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834190"/>
            <a:ext cx="10515600" cy="5342774"/>
          </a:xfrm>
          <a:solidFill>
            <a:schemeClr val="tx1">
              <a:lumMod val="95000"/>
              <a:lumOff val="5000"/>
              <a:alpha val="50000"/>
            </a:schemeClr>
          </a:solidFill>
        </p:spPr>
        <p:txBody>
          <a:bodyPr vert="horz" lIns="91440" tIns="45720" rIns="91440" bIns="45720" rtlCol="0">
            <a:normAutofit fontScale="92500" lnSpcReduction="10000"/>
          </a:bodyPr>
          <a:lstStyle/>
          <a:p>
            <a:pPr marL="0" indent="0" algn="ctr">
              <a:buNone/>
            </a:pPr>
            <a:r>
              <a:rPr lang="de-DE" sz="4600" b="1" dirty="0" smtClean="0">
                <a:solidFill>
                  <a:schemeClr val="bg1">
                    <a:lumMod val="95000"/>
                  </a:schemeClr>
                </a:solidFill>
              </a:rPr>
              <a:t>Musik:</a:t>
            </a:r>
          </a:p>
          <a:p>
            <a:pPr marL="0" indent="0" algn="ctr">
              <a:buNone/>
            </a:pPr>
            <a:endParaRPr lang="de-DE" sz="3600" dirty="0">
              <a:solidFill>
                <a:schemeClr val="bg1">
                  <a:lumMod val="95000"/>
                </a:schemeClr>
              </a:solidFill>
            </a:endParaRPr>
          </a:p>
          <a:p>
            <a:pPr marL="0" indent="0" algn="ctr">
              <a:lnSpc>
                <a:spcPct val="100000"/>
              </a:lnSpc>
              <a:spcBef>
                <a:spcPts val="0"/>
              </a:spcBef>
              <a:buNone/>
            </a:pPr>
            <a:r>
              <a:rPr lang="de-DE" sz="3600" dirty="0">
                <a:solidFill>
                  <a:schemeClr val="bg1">
                    <a:lumMod val="95000"/>
                  </a:schemeClr>
                </a:solidFill>
              </a:rPr>
              <a:t>O Herr, wie sollen wir Dir danken! </a:t>
            </a:r>
            <a:endParaRPr lang="de-DE" sz="3600" dirty="0" smtClean="0">
              <a:solidFill>
                <a:schemeClr val="bg1">
                  <a:lumMod val="95000"/>
                </a:schemeClr>
              </a:solidFill>
            </a:endParaRPr>
          </a:p>
          <a:p>
            <a:pPr marL="0" indent="0" algn="ctr">
              <a:lnSpc>
                <a:spcPct val="100000"/>
              </a:lnSpc>
              <a:spcBef>
                <a:spcPts val="0"/>
              </a:spcBef>
              <a:buNone/>
            </a:pPr>
            <a:r>
              <a:rPr lang="de-DE" sz="3600" dirty="0" smtClean="0">
                <a:solidFill>
                  <a:schemeClr val="bg1">
                    <a:lumMod val="95000"/>
                  </a:schemeClr>
                </a:solidFill>
              </a:rPr>
              <a:t>Grenzenlos </a:t>
            </a:r>
            <a:r>
              <a:rPr lang="de-DE" sz="3600" dirty="0">
                <a:solidFill>
                  <a:schemeClr val="bg1">
                    <a:lumMod val="95000"/>
                  </a:schemeClr>
                </a:solidFill>
              </a:rPr>
              <a:t>ist Deine Großmut</a:t>
            </a:r>
            <a:r>
              <a:rPr lang="de-DE" sz="3600" dirty="0" smtClean="0">
                <a:solidFill>
                  <a:schemeClr val="bg1">
                    <a:lumMod val="95000"/>
                  </a:schemeClr>
                </a:solidFill>
              </a:rPr>
              <a:t>,</a:t>
            </a:r>
            <a:endParaRPr lang="de-DE" sz="3600" dirty="0">
              <a:solidFill>
                <a:schemeClr val="bg1">
                  <a:lumMod val="95000"/>
                </a:schemeClr>
              </a:solidFill>
            </a:endParaRPr>
          </a:p>
          <a:p>
            <a:pPr marL="0" indent="0" algn="ctr">
              <a:lnSpc>
                <a:spcPct val="100000"/>
              </a:lnSpc>
              <a:spcBef>
                <a:spcPts val="0"/>
              </a:spcBef>
              <a:buNone/>
            </a:pPr>
            <a:r>
              <a:rPr lang="de-DE" sz="3600" dirty="0" smtClean="0">
                <a:solidFill>
                  <a:schemeClr val="bg1">
                    <a:lumMod val="95000"/>
                  </a:schemeClr>
                </a:solidFill>
              </a:rPr>
              <a:t>und </a:t>
            </a:r>
            <a:r>
              <a:rPr lang="de-DE" sz="3600" dirty="0">
                <a:solidFill>
                  <a:schemeClr val="bg1">
                    <a:lumMod val="95000"/>
                  </a:schemeClr>
                </a:solidFill>
              </a:rPr>
              <a:t>unsere Dankbarkeit ist nur begrenzt</a:t>
            </a:r>
            <a:r>
              <a:rPr lang="de-DE" sz="3600" dirty="0" smtClean="0">
                <a:solidFill>
                  <a:schemeClr val="bg1">
                    <a:lumMod val="95000"/>
                  </a:schemeClr>
                </a:solidFill>
              </a:rPr>
              <a:t>.</a:t>
            </a:r>
            <a:endParaRPr lang="de-DE" sz="3600" dirty="0">
              <a:solidFill>
                <a:schemeClr val="bg1">
                  <a:lumMod val="95000"/>
                </a:schemeClr>
              </a:solidFill>
            </a:endParaRPr>
          </a:p>
          <a:p>
            <a:pPr marL="0" indent="0" algn="ctr">
              <a:lnSpc>
                <a:spcPct val="100000"/>
              </a:lnSpc>
              <a:spcBef>
                <a:spcPts val="0"/>
              </a:spcBef>
              <a:buNone/>
            </a:pPr>
            <a:r>
              <a:rPr lang="de-DE" sz="3600" dirty="0" smtClean="0">
                <a:solidFill>
                  <a:schemeClr val="bg1">
                    <a:lumMod val="95000"/>
                  </a:schemeClr>
                </a:solidFill>
              </a:rPr>
              <a:t>Wie </a:t>
            </a:r>
            <a:r>
              <a:rPr lang="de-DE" sz="3600" dirty="0">
                <a:solidFill>
                  <a:schemeClr val="bg1">
                    <a:lumMod val="95000"/>
                  </a:schemeClr>
                </a:solidFill>
              </a:rPr>
              <a:t>kann das Begrenzte dem Grenzenlosen Dank erweisen! </a:t>
            </a:r>
          </a:p>
          <a:p>
            <a:pPr marL="0" indent="0" algn="ctr">
              <a:lnSpc>
                <a:spcPct val="100000"/>
              </a:lnSpc>
              <a:spcBef>
                <a:spcPts val="0"/>
              </a:spcBef>
              <a:buNone/>
            </a:pPr>
            <a:r>
              <a:rPr lang="de-DE" sz="3600" dirty="0" smtClean="0">
                <a:solidFill>
                  <a:schemeClr val="bg1">
                    <a:lumMod val="95000"/>
                  </a:schemeClr>
                </a:solidFill>
              </a:rPr>
              <a:t>Unfähig </a:t>
            </a:r>
            <a:r>
              <a:rPr lang="de-DE" sz="3600" dirty="0">
                <a:solidFill>
                  <a:schemeClr val="bg1">
                    <a:lumMod val="95000"/>
                  </a:schemeClr>
                </a:solidFill>
              </a:rPr>
              <a:t>sind wir, Dir Dank zu sagen für Deine Gnadengaben.</a:t>
            </a:r>
          </a:p>
          <a:p>
            <a:pPr marL="0" indent="0" algn="ctr">
              <a:lnSpc>
                <a:spcPct val="100000"/>
              </a:lnSpc>
              <a:spcBef>
                <a:spcPts val="0"/>
              </a:spcBef>
              <a:buNone/>
            </a:pPr>
            <a:r>
              <a:rPr lang="de-DE" sz="3600" dirty="0" smtClean="0">
                <a:solidFill>
                  <a:schemeClr val="bg1">
                    <a:lumMod val="95000"/>
                  </a:schemeClr>
                </a:solidFill>
              </a:rPr>
              <a:t>Völlig </a:t>
            </a:r>
            <a:r>
              <a:rPr lang="de-DE" sz="3600" dirty="0">
                <a:solidFill>
                  <a:schemeClr val="bg1">
                    <a:lumMod val="95000"/>
                  </a:schemeClr>
                </a:solidFill>
              </a:rPr>
              <a:t>machtlos wenden wir uns Deinem Reiche </a:t>
            </a:r>
            <a:r>
              <a:rPr lang="de-DE" sz="3600" dirty="0" smtClean="0">
                <a:solidFill>
                  <a:schemeClr val="bg1">
                    <a:lumMod val="95000"/>
                  </a:schemeClr>
                </a:solidFill>
              </a:rPr>
              <a:t>zu</a:t>
            </a:r>
            <a:endParaRPr lang="de-DE" sz="3600" dirty="0">
              <a:solidFill>
                <a:schemeClr val="bg1">
                  <a:lumMod val="95000"/>
                </a:schemeClr>
              </a:solidFill>
            </a:endParaRPr>
          </a:p>
          <a:p>
            <a:pPr marL="0" indent="0" algn="ctr">
              <a:lnSpc>
                <a:spcPct val="100000"/>
              </a:lnSpc>
              <a:spcBef>
                <a:spcPts val="0"/>
              </a:spcBef>
              <a:buNone/>
            </a:pPr>
            <a:r>
              <a:rPr lang="de-DE" sz="3600" dirty="0" smtClean="0">
                <a:solidFill>
                  <a:schemeClr val="bg1">
                    <a:lumMod val="95000"/>
                  </a:schemeClr>
                </a:solidFill>
              </a:rPr>
              <a:t>und </a:t>
            </a:r>
            <a:r>
              <a:rPr lang="de-DE" sz="3600" dirty="0">
                <a:solidFill>
                  <a:schemeClr val="bg1">
                    <a:lumMod val="95000"/>
                  </a:schemeClr>
                </a:solidFill>
              </a:rPr>
              <a:t>bitten Dich, </a:t>
            </a:r>
            <a:r>
              <a:rPr lang="de-DE" sz="3600" dirty="0" smtClean="0">
                <a:solidFill>
                  <a:schemeClr val="bg1">
                    <a:lumMod val="95000"/>
                  </a:schemeClr>
                </a:solidFill>
              </a:rPr>
              <a:t>Deine </a:t>
            </a:r>
            <a:r>
              <a:rPr lang="de-DE" sz="3600" dirty="0">
                <a:solidFill>
                  <a:schemeClr val="bg1">
                    <a:lumMod val="95000"/>
                  </a:schemeClr>
                </a:solidFill>
              </a:rPr>
              <a:t>Gaben und </a:t>
            </a:r>
            <a:r>
              <a:rPr lang="de-DE" sz="3600" dirty="0" smtClean="0">
                <a:solidFill>
                  <a:schemeClr val="bg1">
                    <a:lumMod val="95000"/>
                  </a:schemeClr>
                </a:solidFill>
              </a:rPr>
              <a:t>Segnungen </a:t>
            </a:r>
            <a:r>
              <a:rPr lang="de-DE" sz="3600" dirty="0">
                <a:solidFill>
                  <a:schemeClr val="bg1">
                    <a:lumMod val="95000"/>
                  </a:schemeClr>
                </a:solidFill>
              </a:rPr>
              <a:t>zu mehren</a:t>
            </a:r>
            <a:r>
              <a:rPr lang="de-DE" sz="3600" dirty="0" smtClean="0">
                <a:solidFill>
                  <a:schemeClr val="bg1">
                    <a:lumMod val="95000"/>
                  </a:schemeClr>
                </a:solidFill>
              </a:rPr>
              <a:t>.</a:t>
            </a:r>
          </a:p>
          <a:p>
            <a:pPr marL="0" indent="0" algn="ctr">
              <a:lnSpc>
                <a:spcPct val="100000"/>
              </a:lnSpc>
              <a:spcBef>
                <a:spcPts val="0"/>
              </a:spcBef>
              <a:buNone/>
            </a:pPr>
            <a:endParaRPr lang="de-DE" sz="2000" dirty="0" smtClean="0">
              <a:solidFill>
                <a:schemeClr val="bg1">
                  <a:lumMod val="95000"/>
                </a:schemeClr>
              </a:solidFill>
            </a:endParaRPr>
          </a:p>
          <a:p>
            <a:pPr marL="0" indent="0" algn="ctr">
              <a:lnSpc>
                <a:spcPct val="100000"/>
              </a:lnSpc>
              <a:spcBef>
                <a:spcPts val="0"/>
              </a:spcBef>
              <a:buNone/>
            </a:pPr>
            <a:r>
              <a:rPr lang="de-DE" sz="2000" dirty="0" smtClean="0">
                <a:solidFill>
                  <a:schemeClr val="bg1">
                    <a:lumMod val="95000"/>
                  </a:schemeClr>
                </a:solidFill>
              </a:rPr>
              <a:t>'ABDU'L-BAHÁ</a:t>
            </a:r>
            <a:endParaRPr lang="de-DE" sz="2000" dirty="0">
              <a:solidFill>
                <a:schemeClr val="bg1">
                  <a:lumMod val="95000"/>
                </a:schemeClr>
              </a:solidFill>
            </a:endParaRPr>
          </a:p>
        </p:txBody>
      </p:sp>
    </p:spTree>
    <p:extLst>
      <p:ext uri="{BB962C8B-B14F-4D97-AF65-F5344CB8AC3E}">
        <p14:creationId xmlns:p14="http://schemas.microsoft.com/office/powerpoint/2010/main" val="364554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895546"/>
            <a:ext cx="10515600" cy="5448693"/>
          </a:xfrm>
          <a:solidFill>
            <a:schemeClr val="tx1">
              <a:lumMod val="95000"/>
              <a:lumOff val="5000"/>
              <a:alpha val="50000"/>
            </a:schemeClr>
          </a:solidFill>
        </p:spPr>
        <p:txBody>
          <a:bodyPr vert="horz" lIns="91440" tIns="45720" rIns="91440" bIns="45720" rtlCol="0">
            <a:normAutofit/>
          </a:bodyPr>
          <a:lstStyle/>
          <a:p>
            <a:pPr marL="0" indent="0" algn="just">
              <a:buNone/>
            </a:pPr>
            <a:r>
              <a:rPr lang="de-DE" sz="3600" dirty="0">
                <a:solidFill>
                  <a:schemeClr val="bg1"/>
                </a:solidFill>
              </a:rPr>
              <a:t>Sei geduldig und dankbar. Wende dein Angesicht dem Reiche Gottes zu und strebe danach, barmherzig und erleuchtet zu werden, die Kennzeichen des </a:t>
            </a:r>
            <a:r>
              <a:rPr lang="de-DE" sz="3600" dirty="0" smtClean="0">
                <a:solidFill>
                  <a:schemeClr val="bg1"/>
                </a:solidFill>
              </a:rPr>
              <a:t>Gottes-reiches </a:t>
            </a:r>
            <a:r>
              <a:rPr lang="de-DE" sz="3600" dirty="0">
                <a:solidFill>
                  <a:schemeClr val="bg1"/>
                </a:solidFill>
              </a:rPr>
              <a:t>und des Herrn zu erlangen. Bemühe dich, gegen die Vergnügungen dieser Welt und ihre Bequemlichkeit gleichgültig zu werden, fest und standhaft im Bündnis zu bleiben und die Sache Gottes zu </a:t>
            </a:r>
            <a:r>
              <a:rPr lang="de-DE" sz="3600" dirty="0" smtClean="0">
                <a:solidFill>
                  <a:schemeClr val="bg1"/>
                </a:solidFill>
              </a:rPr>
              <a:t>verkünden.</a:t>
            </a:r>
            <a:endParaRPr lang="de-DE" sz="3600" i="1" dirty="0">
              <a:solidFill>
                <a:schemeClr val="bg1"/>
              </a:solidFill>
            </a:endParaRPr>
          </a:p>
          <a:p>
            <a:pPr marL="0" indent="0" algn="just">
              <a:buNone/>
            </a:pPr>
            <a:r>
              <a:rPr lang="de-DE" sz="3600" dirty="0" smtClean="0">
                <a:solidFill>
                  <a:schemeClr val="bg1"/>
                </a:solidFill>
              </a:rPr>
              <a:t>Darauf </a:t>
            </a:r>
            <a:r>
              <a:rPr lang="de-DE" sz="3600" dirty="0">
                <a:solidFill>
                  <a:schemeClr val="bg1"/>
                </a:solidFill>
              </a:rPr>
              <a:t>beruht die Erhöhung des Menschen, seine Herrlichkeit und sein Heil.</a:t>
            </a:r>
            <a:r>
              <a:rPr lang="de-DE" sz="2600" dirty="0" smtClean="0">
                <a:solidFill>
                  <a:schemeClr val="bg1">
                    <a:lumMod val="95000"/>
                  </a:schemeClr>
                </a:solidFill>
              </a:rPr>
              <a:t>	</a:t>
            </a:r>
          </a:p>
          <a:p>
            <a:pPr marL="0" indent="0">
              <a:buNone/>
            </a:pPr>
            <a:r>
              <a:rPr lang="de-DE" sz="2600" dirty="0">
                <a:solidFill>
                  <a:schemeClr val="bg1">
                    <a:lumMod val="95000"/>
                  </a:schemeClr>
                </a:solidFill>
              </a:rPr>
              <a:t>	</a:t>
            </a:r>
            <a:r>
              <a:rPr lang="de-DE" sz="2600" dirty="0" smtClean="0">
                <a:solidFill>
                  <a:schemeClr val="bg1">
                    <a:lumMod val="95000"/>
                  </a:schemeClr>
                </a:solidFill>
              </a:rPr>
              <a:t>							</a:t>
            </a:r>
            <a:r>
              <a:rPr lang="de-DE" sz="2200" dirty="0" smtClean="0">
                <a:solidFill>
                  <a:schemeClr val="bg1">
                    <a:lumMod val="95000"/>
                  </a:schemeClr>
                </a:solidFill>
              </a:rPr>
              <a:t> 'ABDU'L-BAHÁ</a:t>
            </a:r>
            <a:endParaRPr lang="de-DE" sz="2200" dirty="0">
              <a:solidFill>
                <a:schemeClr val="bg1">
                  <a:lumMod val="95000"/>
                </a:schemeClr>
              </a:solidFill>
            </a:endParaRPr>
          </a:p>
        </p:txBody>
      </p:sp>
    </p:spTree>
    <p:extLst>
      <p:ext uri="{BB962C8B-B14F-4D97-AF65-F5344CB8AC3E}">
        <p14:creationId xmlns:p14="http://schemas.microsoft.com/office/powerpoint/2010/main" val="1732071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866274"/>
            <a:ext cx="10515600" cy="5310689"/>
          </a:xfrm>
          <a:solidFill>
            <a:schemeClr val="tx1">
              <a:lumMod val="95000"/>
              <a:lumOff val="5000"/>
              <a:alpha val="50000"/>
            </a:schemeClr>
          </a:solidFill>
        </p:spPr>
        <p:txBody>
          <a:bodyPr vert="horz" lIns="91440" tIns="45720" rIns="91440" bIns="45720" rtlCol="0">
            <a:normAutofit fontScale="77500" lnSpcReduction="20000"/>
          </a:bodyPr>
          <a:lstStyle/>
          <a:p>
            <a:pPr marL="0" indent="0" algn="just">
              <a:buNone/>
            </a:pPr>
            <a:r>
              <a:rPr lang="de-DE" sz="4000" dirty="0">
                <a:solidFill>
                  <a:schemeClr val="bg1"/>
                </a:solidFill>
              </a:rPr>
              <a:t>Freiheit ist nicht eine Frage des Ortes, sondern des Zustandes. Ich war dankbar für diese Gefangenschaft und mit dem Mangel an Freiheit ganz zufrieden, denn ich konnte jene Zeit auf dem Pfade des Dienens verbringen – unter größten Schwierigkeiten und Prüfungen, die aber Früchte und Ergebnisse </a:t>
            </a:r>
            <a:r>
              <a:rPr lang="de-DE" sz="4000" dirty="0" smtClean="0">
                <a:solidFill>
                  <a:schemeClr val="bg1"/>
                </a:solidFill>
              </a:rPr>
              <a:t>zeitigten.</a:t>
            </a:r>
            <a:endParaRPr lang="de-DE" sz="4000" i="1" dirty="0">
              <a:solidFill>
                <a:schemeClr val="bg1"/>
              </a:solidFill>
            </a:endParaRPr>
          </a:p>
          <a:p>
            <a:pPr marL="0" indent="0" algn="just">
              <a:buNone/>
            </a:pPr>
            <a:r>
              <a:rPr lang="de-DE" sz="4000" dirty="0" smtClean="0">
                <a:solidFill>
                  <a:schemeClr val="bg1"/>
                </a:solidFill>
              </a:rPr>
              <a:t>Solange </a:t>
            </a:r>
            <a:r>
              <a:rPr lang="de-DE" sz="4000" dirty="0">
                <a:solidFill>
                  <a:schemeClr val="bg1"/>
                </a:solidFill>
              </a:rPr>
              <a:t>man harte Schicksalsschläge nicht annimmt, erreicht man nichts. Für mich bedeutet das Gefängnis Freiheit, Probleme sind eine Erholung, Tod ist Leben und verachtet zu werden ist eine Ehre. Ich war diese ganzen Jahre im Gefängnis glücklich. Aus dem Gefängnis des </a:t>
            </a:r>
            <a:r>
              <a:rPr lang="de-DE" sz="4000" dirty="0" err="1">
                <a:solidFill>
                  <a:schemeClr val="bg1"/>
                </a:solidFill>
              </a:rPr>
              <a:t>Selbstes</a:t>
            </a:r>
            <a:r>
              <a:rPr lang="de-DE" sz="4000" dirty="0">
                <a:solidFill>
                  <a:schemeClr val="bg1"/>
                </a:solidFill>
              </a:rPr>
              <a:t> befreit zu sein, das ist wahre Freiheit, denn das Selbst ist das größere Gefängnis. Wenn diese Befreiung gelingt, kann man, von außen betrachtet, nicht gefangen sein. </a:t>
            </a:r>
            <a:r>
              <a:rPr lang="de-DE" sz="4000" dirty="0">
                <a:solidFill>
                  <a:schemeClr val="bg1">
                    <a:lumMod val="85000"/>
                  </a:schemeClr>
                </a:solidFill>
              </a:rPr>
              <a:t>	</a:t>
            </a:r>
            <a:r>
              <a:rPr lang="de-DE" sz="3600" dirty="0">
                <a:solidFill>
                  <a:schemeClr val="bg1">
                    <a:lumMod val="85000"/>
                  </a:schemeClr>
                </a:solidFill>
              </a:rPr>
              <a:t>				</a:t>
            </a:r>
            <a:r>
              <a:rPr lang="de-DE" sz="3600" dirty="0" smtClean="0">
                <a:solidFill>
                  <a:schemeClr val="bg1">
                    <a:lumMod val="85000"/>
                  </a:schemeClr>
                </a:solidFill>
              </a:rPr>
              <a:t>						</a:t>
            </a:r>
            <a:r>
              <a:rPr lang="de-DE" sz="3600" dirty="0">
                <a:solidFill>
                  <a:schemeClr val="bg1">
                    <a:lumMod val="85000"/>
                  </a:schemeClr>
                </a:solidFill>
              </a:rPr>
              <a:t>	</a:t>
            </a:r>
            <a:r>
              <a:rPr lang="de-DE" sz="3600" dirty="0" smtClean="0">
                <a:solidFill>
                  <a:schemeClr val="bg1">
                    <a:lumMod val="85000"/>
                  </a:schemeClr>
                </a:solidFill>
              </a:rPr>
              <a:t>								</a:t>
            </a:r>
            <a:r>
              <a:rPr lang="de-DE" sz="3100" dirty="0" smtClean="0">
                <a:solidFill>
                  <a:schemeClr val="bg1">
                    <a:lumMod val="85000"/>
                  </a:schemeClr>
                </a:solidFill>
              </a:rPr>
              <a:t>							</a:t>
            </a:r>
            <a:r>
              <a:rPr lang="de-DE" sz="3100" dirty="0">
                <a:solidFill>
                  <a:schemeClr val="bg1">
                    <a:lumMod val="85000"/>
                  </a:schemeClr>
                </a:solidFill>
              </a:rPr>
              <a:t>	</a:t>
            </a:r>
            <a:r>
              <a:rPr lang="de-DE" sz="3100" dirty="0" smtClean="0">
                <a:solidFill>
                  <a:schemeClr val="bg1">
                    <a:lumMod val="95000"/>
                  </a:schemeClr>
                </a:solidFill>
              </a:rPr>
              <a:t>'ABDU'L-BAHÁ</a:t>
            </a:r>
            <a:endParaRPr lang="de-DE" sz="3100" dirty="0">
              <a:solidFill>
                <a:schemeClr val="bg1">
                  <a:lumMod val="95000"/>
                </a:schemeClr>
              </a:solidFill>
            </a:endParaRPr>
          </a:p>
        </p:txBody>
      </p:sp>
    </p:spTree>
    <p:extLst>
      <p:ext uri="{BB962C8B-B14F-4D97-AF65-F5344CB8AC3E}">
        <p14:creationId xmlns:p14="http://schemas.microsoft.com/office/powerpoint/2010/main" val="391094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834189"/>
            <a:ext cx="10515600" cy="5774001"/>
          </a:xfrm>
          <a:solidFill>
            <a:schemeClr val="tx1">
              <a:lumMod val="95000"/>
              <a:lumOff val="5000"/>
              <a:alpha val="50000"/>
            </a:schemeClr>
          </a:solidFill>
        </p:spPr>
        <p:txBody>
          <a:bodyPr vert="horz" lIns="91440" tIns="45720" rIns="91440" bIns="45720" rtlCol="0">
            <a:normAutofit lnSpcReduction="10000"/>
          </a:bodyPr>
          <a:lstStyle/>
          <a:p>
            <a:pPr marL="0" indent="0" algn="ctr">
              <a:buNone/>
            </a:pPr>
            <a:r>
              <a:rPr lang="de-DE" sz="4600" b="1" dirty="0" smtClean="0">
                <a:solidFill>
                  <a:schemeClr val="bg1"/>
                </a:solidFill>
              </a:rPr>
              <a:t>Musik:</a:t>
            </a:r>
          </a:p>
          <a:p>
            <a:pPr marL="0" indent="0" algn="ctr">
              <a:lnSpc>
                <a:spcPct val="110000"/>
              </a:lnSpc>
              <a:spcBef>
                <a:spcPts val="0"/>
              </a:spcBef>
              <a:buNone/>
            </a:pPr>
            <a:endParaRPr lang="de-DE" dirty="0" smtClean="0">
              <a:solidFill>
                <a:schemeClr val="bg1"/>
              </a:solidFill>
            </a:endParaRPr>
          </a:p>
          <a:p>
            <a:pPr marL="0" indent="0" algn="ctr">
              <a:lnSpc>
                <a:spcPct val="110000"/>
              </a:lnSpc>
              <a:spcBef>
                <a:spcPts val="0"/>
              </a:spcBef>
              <a:buNone/>
            </a:pPr>
            <a:r>
              <a:rPr lang="de-DE" sz="3200" dirty="0" smtClean="0">
                <a:solidFill>
                  <a:schemeClr val="bg1"/>
                </a:solidFill>
              </a:rPr>
              <a:t>Wahre </a:t>
            </a:r>
            <a:r>
              <a:rPr lang="de-DE" sz="3200" dirty="0">
                <a:solidFill>
                  <a:schemeClr val="bg1"/>
                </a:solidFill>
              </a:rPr>
              <a:t>Freiheit besteht in der Loslösung, </a:t>
            </a:r>
            <a:endParaRPr lang="de-DE" sz="3200" dirty="0" smtClean="0">
              <a:solidFill>
                <a:schemeClr val="bg1"/>
              </a:solidFill>
            </a:endParaRPr>
          </a:p>
          <a:p>
            <a:pPr marL="0" indent="0" algn="ctr">
              <a:lnSpc>
                <a:spcPct val="110000"/>
              </a:lnSpc>
              <a:spcBef>
                <a:spcPts val="0"/>
              </a:spcBef>
              <a:buNone/>
            </a:pPr>
            <a:r>
              <a:rPr lang="de-DE" sz="3200" dirty="0" smtClean="0">
                <a:solidFill>
                  <a:schemeClr val="bg1"/>
                </a:solidFill>
              </a:rPr>
              <a:t>von </a:t>
            </a:r>
            <a:r>
              <a:rPr lang="de-DE" sz="3200" dirty="0">
                <a:solidFill>
                  <a:schemeClr val="bg1"/>
                </a:solidFill>
              </a:rPr>
              <a:t>der Bindung, an das </a:t>
            </a:r>
            <a:r>
              <a:rPr lang="de-DE" sz="3200" dirty="0" smtClean="0">
                <a:solidFill>
                  <a:schemeClr val="bg1"/>
                </a:solidFill>
              </a:rPr>
              <a:t>eigene </a:t>
            </a:r>
            <a:r>
              <a:rPr lang="de-DE" sz="3200" dirty="0">
                <a:solidFill>
                  <a:schemeClr val="bg1"/>
                </a:solidFill>
              </a:rPr>
              <a:t>Ich. </a:t>
            </a:r>
          </a:p>
          <a:p>
            <a:pPr marL="0" indent="0" algn="ctr">
              <a:lnSpc>
                <a:spcPct val="110000"/>
              </a:lnSpc>
              <a:spcBef>
                <a:spcPts val="0"/>
              </a:spcBef>
              <a:buNone/>
            </a:pPr>
            <a:r>
              <a:rPr lang="de-DE" sz="3200" dirty="0" smtClean="0">
                <a:solidFill>
                  <a:schemeClr val="bg1"/>
                </a:solidFill>
              </a:rPr>
              <a:t>Denn </a:t>
            </a:r>
            <a:r>
              <a:rPr lang="de-DE" sz="3200" dirty="0">
                <a:solidFill>
                  <a:schemeClr val="bg1"/>
                </a:solidFill>
              </a:rPr>
              <a:t>das Ich ist das größte Gefängnis, </a:t>
            </a:r>
            <a:endParaRPr lang="de-DE" sz="3200" dirty="0" smtClean="0">
              <a:solidFill>
                <a:schemeClr val="bg1"/>
              </a:solidFill>
            </a:endParaRPr>
          </a:p>
          <a:p>
            <a:pPr marL="0" indent="0" algn="ctr">
              <a:lnSpc>
                <a:spcPct val="110000"/>
              </a:lnSpc>
              <a:spcBef>
                <a:spcPts val="0"/>
              </a:spcBef>
              <a:buNone/>
            </a:pPr>
            <a:r>
              <a:rPr lang="de-DE" sz="3200" dirty="0" smtClean="0">
                <a:solidFill>
                  <a:schemeClr val="bg1"/>
                </a:solidFill>
              </a:rPr>
              <a:t>denn </a:t>
            </a:r>
            <a:r>
              <a:rPr lang="de-DE" sz="3200" dirty="0">
                <a:solidFill>
                  <a:schemeClr val="bg1"/>
                </a:solidFill>
              </a:rPr>
              <a:t>das ich ist das größte </a:t>
            </a:r>
            <a:r>
              <a:rPr lang="de-DE" sz="3200" dirty="0" smtClean="0">
                <a:solidFill>
                  <a:schemeClr val="bg1"/>
                </a:solidFill>
              </a:rPr>
              <a:t>Gefängnis </a:t>
            </a:r>
            <a:endParaRPr lang="de-DE" sz="3200" dirty="0">
              <a:solidFill>
                <a:schemeClr val="bg1"/>
              </a:solidFill>
            </a:endParaRPr>
          </a:p>
          <a:p>
            <a:pPr marL="0" indent="0" algn="ctr">
              <a:lnSpc>
                <a:spcPct val="110000"/>
              </a:lnSpc>
              <a:spcBef>
                <a:spcPts val="0"/>
              </a:spcBef>
              <a:buNone/>
            </a:pPr>
            <a:r>
              <a:rPr lang="de-DE" sz="3200" dirty="0" err="1" smtClean="0">
                <a:solidFill>
                  <a:schemeClr val="bg1"/>
                </a:solidFill>
              </a:rPr>
              <a:t>When</a:t>
            </a:r>
            <a:r>
              <a:rPr lang="de-DE" sz="3200" dirty="0" smtClean="0">
                <a:solidFill>
                  <a:schemeClr val="bg1"/>
                </a:solidFill>
              </a:rPr>
              <a:t> </a:t>
            </a:r>
            <a:r>
              <a:rPr lang="de-DE" sz="3200" dirty="0" err="1">
                <a:solidFill>
                  <a:schemeClr val="bg1"/>
                </a:solidFill>
              </a:rPr>
              <a:t>one</a:t>
            </a:r>
            <a:r>
              <a:rPr lang="de-DE" sz="3200" dirty="0">
                <a:solidFill>
                  <a:schemeClr val="bg1"/>
                </a:solidFill>
              </a:rPr>
              <a:t> </a:t>
            </a:r>
            <a:r>
              <a:rPr lang="de-DE" sz="3200" dirty="0" err="1">
                <a:solidFill>
                  <a:schemeClr val="bg1"/>
                </a:solidFill>
              </a:rPr>
              <a:t>is</a:t>
            </a:r>
            <a:r>
              <a:rPr lang="de-DE" sz="3200" dirty="0">
                <a:solidFill>
                  <a:schemeClr val="bg1"/>
                </a:solidFill>
              </a:rPr>
              <a:t> </a:t>
            </a:r>
            <a:r>
              <a:rPr lang="de-DE" sz="3200" dirty="0" err="1">
                <a:solidFill>
                  <a:schemeClr val="bg1"/>
                </a:solidFill>
              </a:rPr>
              <a:t>released</a:t>
            </a:r>
            <a:r>
              <a:rPr lang="de-DE" sz="3200" dirty="0">
                <a:solidFill>
                  <a:schemeClr val="bg1"/>
                </a:solidFill>
              </a:rPr>
              <a:t> </a:t>
            </a:r>
            <a:r>
              <a:rPr lang="de-DE" sz="3200" dirty="0" err="1">
                <a:solidFill>
                  <a:schemeClr val="bg1"/>
                </a:solidFill>
              </a:rPr>
              <a:t>from</a:t>
            </a:r>
            <a:r>
              <a:rPr lang="de-DE" sz="3200" dirty="0">
                <a:solidFill>
                  <a:schemeClr val="bg1"/>
                </a:solidFill>
              </a:rPr>
              <a:t> </a:t>
            </a:r>
            <a:r>
              <a:rPr lang="de-DE" sz="3200" dirty="0" err="1">
                <a:solidFill>
                  <a:schemeClr val="bg1"/>
                </a:solidFill>
              </a:rPr>
              <a:t>the</a:t>
            </a:r>
            <a:r>
              <a:rPr lang="de-DE" sz="3200" dirty="0">
                <a:solidFill>
                  <a:schemeClr val="bg1"/>
                </a:solidFill>
              </a:rPr>
              <a:t> </a:t>
            </a:r>
            <a:r>
              <a:rPr lang="de-DE" sz="3200" dirty="0" err="1">
                <a:solidFill>
                  <a:schemeClr val="bg1"/>
                </a:solidFill>
              </a:rPr>
              <a:t>prison</a:t>
            </a:r>
            <a:r>
              <a:rPr lang="de-DE" sz="3200" dirty="0">
                <a:solidFill>
                  <a:schemeClr val="bg1"/>
                </a:solidFill>
              </a:rPr>
              <a:t> </a:t>
            </a:r>
            <a:r>
              <a:rPr lang="de-DE" sz="3200" dirty="0" err="1">
                <a:solidFill>
                  <a:schemeClr val="bg1"/>
                </a:solidFill>
              </a:rPr>
              <a:t>of</a:t>
            </a:r>
            <a:r>
              <a:rPr lang="de-DE" sz="3200" dirty="0">
                <a:solidFill>
                  <a:schemeClr val="bg1"/>
                </a:solidFill>
              </a:rPr>
              <a:t> </a:t>
            </a:r>
            <a:r>
              <a:rPr lang="de-DE" sz="3200" dirty="0" err="1">
                <a:solidFill>
                  <a:schemeClr val="bg1"/>
                </a:solidFill>
              </a:rPr>
              <a:t>self</a:t>
            </a:r>
            <a:r>
              <a:rPr lang="de-DE" sz="3200" dirty="0">
                <a:solidFill>
                  <a:schemeClr val="bg1"/>
                </a:solidFill>
              </a:rPr>
              <a:t>, </a:t>
            </a:r>
            <a:endParaRPr lang="de-DE" sz="3200" dirty="0" smtClean="0">
              <a:solidFill>
                <a:schemeClr val="bg1"/>
              </a:solidFill>
            </a:endParaRPr>
          </a:p>
          <a:p>
            <a:pPr marL="0" indent="0" algn="ctr">
              <a:lnSpc>
                <a:spcPct val="110000"/>
              </a:lnSpc>
              <a:spcBef>
                <a:spcPts val="0"/>
              </a:spcBef>
              <a:buNone/>
            </a:pPr>
            <a:r>
              <a:rPr lang="de-DE" sz="3200" dirty="0" err="1" smtClean="0">
                <a:solidFill>
                  <a:schemeClr val="bg1"/>
                </a:solidFill>
              </a:rPr>
              <a:t>that</a:t>
            </a:r>
            <a:r>
              <a:rPr lang="de-DE" sz="3200" dirty="0" smtClean="0">
                <a:solidFill>
                  <a:schemeClr val="bg1"/>
                </a:solidFill>
              </a:rPr>
              <a:t> </a:t>
            </a:r>
            <a:r>
              <a:rPr lang="de-DE" sz="3200" dirty="0" err="1">
                <a:solidFill>
                  <a:schemeClr val="bg1"/>
                </a:solidFill>
              </a:rPr>
              <a:t>is</a:t>
            </a:r>
            <a:r>
              <a:rPr lang="de-DE" sz="3200" dirty="0">
                <a:solidFill>
                  <a:schemeClr val="bg1"/>
                </a:solidFill>
              </a:rPr>
              <a:t> </a:t>
            </a:r>
            <a:r>
              <a:rPr lang="de-DE" sz="3200" dirty="0" err="1">
                <a:solidFill>
                  <a:schemeClr val="bg1"/>
                </a:solidFill>
              </a:rPr>
              <a:t>indeed</a:t>
            </a:r>
            <a:r>
              <a:rPr lang="de-DE" sz="3200" dirty="0">
                <a:solidFill>
                  <a:schemeClr val="bg1"/>
                </a:solidFill>
              </a:rPr>
              <a:t> </a:t>
            </a:r>
            <a:r>
              <a:rPr lang="de-DE" sz="3200" dirty="0" err="1" smtClean="0">
                <a:solidFill>
                  <a:schemeClr val="bg1"/>
                </a:solidFill>
              </a:rPr>
              <a:t>freedom</a:t>
            </a:r>
            <a:r>
              <a:rPr lang="de-DE" sz="3200" dirty="0">
                <a:solidFill>
                  <a:schemeClr val="bg1"/>
                </a:solidFill>
              </a:rPr>
              <a:t>, </a:t>
            </a:r>
          </a:p>
          <a:p>
            <a:pPr marL="0" indent="0" algn="ctr">
              <a:lnSpc>
                <a:spcPct val="110000"/>
              </a:lnSpc>
              <a:spcBef>
                <a:spcPts val="0"/>
              </a:spcBef>
              <a:buNone/>
            </a:pPr>
            <a:r>
              <a:rPr lang="de-DE" sz="3200" dirty="0" err="1" smtClean="0">
                <a:solidFill>
                  <a:schemeClr val="bg1"/>
                </a:solidFill>
              </a:rPr>
              <a:t>for</a:t>
            </a:r>
            <a:r>
              <a:rPr lang="de-DE" sz="3200" dirty="0" smtClean="0">
                <a:solidFill>
                  <a:schemeClr val="bg1"/>
                </a:solidFill>
              </a:rPr>
              <a:t> </a:t>
            </a:r>
            <a:r>
              <a:rPr lang="de-DE" sz="3200" dirty="0" err="1">
                <a:solidFill>
                  <a:schemeClr val="bg1"/>
                </a:solidFill>
              </a:rPr>
              <a:t>the</a:t>
            </a:r>
            <a:r>
              <a:rPr lang="de-DE" sz="3200" dirty="0">
                <a:solidFill>
                  <a:schemeClr val="bg1"/>
                </a:solidFill>
              </a:rPr>
              <a:t> </a:t>
            </a:r>
            <a:r>
              <a:rPr lang="de-DE" sz="3200" dirty="0" err="1">
                <a:solidFill>
                  <a:schemeClr val="bg1"/>
                </a:solidFill>
              </a:rPr>
              <a:t>self</a:t>
            </a:r>
            <a:r>
              <a:rPr lang="de-DE" sz="3200" dirty="0">
                <a:solidFill>
                  <a:schemeClr val="bg1"/>
                </a:solidFill>
              </a:rPr>
              <a:t> </a:t>
            </a:r>
            <a:r>
              <a:rPr lang="de-DE" sz="3200" dirty="0" err="1">
                <a:solidFill>
                  <a:schemeClr val="bg1"/>
                </a:solidFill>
              </a:rPr>
              <a:t>is</a:t>
            </a:r>
            <a:r>
              <a:rPr lang="de-DE" sz="3200" dirty="0">
                <a:solidFill>
                  <a:schemeClr val="bg1"/>
                </a:solidFill>
              </a:rPr>
              <a:t> </a:t>
            </a:r>
            <a:r>
              <a:rPr lang="de-DE" sz="3200" dirty="0" err="1">
                <a:solidFill>
                  <a:schemeClr val="bg1"/>
                </a:solidFill>
              </a:rPr>
              <a:t>the</a:t>
            </a:r>
            <a:r>
              <a:rPr lang="de-DE" sz="3200" dirty="0">
                <a:solidFill>
                  <a:schemeClr val="bg1"/>
                </a:solidFill>
              </a:rPr>
              <a:t> </a:t>
            </a:r>
            <a:r>
              <a:rPr lang="de-DE" sz="3200" dirty="0" err="1">
                <a:solidFill>
                  <a:schemeClr val="bg1"/>
                </a:solidFill>
              </a:rPr>
              <a:t>greatest</a:t>
            </a:r>
            <a:r>
              <a:rPr lang="de-DE" sz="3200" dirty="0">
                <a:solidFill>
                  <a:schemeClr val="bg1"/>
                </a:solidFill>
              </a:rPr>
              <a:t> </a:t>
            </a:r>
            <a:r>
              <a:rPr lang="de-DE" sz="3200" dirty="0" err="1">
                <a:solidFill>
                  <a:schemeClr val="bg1"/>
                </a:solidFill>
              </a:rPr>
              <a:t>prison</a:t>
            </a:r>
            <a:endParaRPr lang="de-DE" sz="3200" dirty="0">
              <a:solidFill>
                <a:schemeClr val="bg1"/>
              </a:solidFill>
            </a:endParaRPr>
          </a:p>
          <a:p>
            <a:pPr marL="0" indent="0" algn="ctr">
              <a:lnSpc>
                <a:spcPct val="110000"/>
              </a:lnSpc>
              <a:spcBef>
                <a:spcPts val="0"/>
              </a:spcBef>
              <a:buNone/>
            </a:pPr>
            <a:r>
              <a:rPr lang="de-DE" sz="3200" dirty="0" smtClean="0">
                <a:solidFill>
                  <a:schemeClr val="bg1"/>
                </a:solidFill>
              </a:rPr>
              <a:t>O-o-o</a:t>
            </a:r>
            <a:r>
              <a:rPr lang="de-DE" sz="3200" dirty="0">
                <a:solidFill>
                  <a:schemeClr val="bg1"/>
                </a:solidFill>
              </a:rPr>
              <a:t>, o-o-o, </a:t>
            </a:r>
            <a:r>
              <a:rPr lang="de-DE" sz="3200" dirty="0" err="1">
                <a:solidFill>
                  <a:schemeClr val="bg1"/>
                </a:solidFill>
              </a:rPr>
              <a:t>yeah</a:t>
            </a:r>
            <a:r>
              <a:rPr lang="de-DE" sz="3200" dirty="0">
                <a:solidFill>
                  <a:schemeClr val="bg1"/>
                </a:solidFill>
              </a:rPr>
              <a:t> </a:t>
            </a:r>
            <a:r>
              <a:rPr lang="de-DE" sz="3200" dirty="0" err="1">
                <a:solidFill>
                  <a:schemeClr val="bg1"/>
                </a:solidFill>
              </a:rPr>
              <a:t>yeah</a:t>
            </a:r>
            <a:r>
              <a:rPr lang="de-DE" sz="3200" dirty="0">
                <a:solidFill>
                  <a:schemeClr val="bg1"/>
                </a:solidFill>
              </a:rPr>
              <a:t> </a:t>
            </a:r>
          </a:p>
          <a:p>
            <a:pPr marL="0" indent="0">
              <a:buNone/>
            </a:pPr>
            <a:r>
              <a:rPr lang="de-DE" sz="2000" dirty="0" smtClean="0">
                <a:solidFill>
                  <a:schemeClr val="bg1"/>
                </a:solidFill>
              </a:rPr>
              <a:t>									'ABDU'L-BAHÁ</a:t>
            </a:r>
            <a:endParaRPr lang="de-DE" sz="2000" dirty="0">
              <a:solidFill>
                <a:schemeClr val="bg1"/>
              </a:solidFill>
            </a:endParaRPr>
          </a:p>
        </p:txBody>
      </p:sp>
    </p:spTree>
    <p:extLst>
      <p:ext uri="{BB962C8B-B14F-4D97-AF65-F5344CB8AC3E}">
        <p14:creationId xmlns:p14="http://schemas.microsoft.com/office/powerpoint/2010/main" val="351863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946483"/>
            <a:ext cx="10515600" cy="4829429"/>
          </a:xfrm>
          <a:solidFill>
            <a:schemeClr val="tx1">
              <a:lumMod val="95000"/>
              <a:lumOff val="5000"/>
              <a:alpha val="50000"/>
            </a:schemeClr>
          </a:solidFill>
        </p:spPr>
        <p:txBody>
          <a:bodyPr vert="horz" lIns="91440" tIns="45720" rIns="91440" bIns="45720" rtlCol="0">
            <a:normAutofit fontScale="70000" lnSpcReduction="20000"/>
          </a:bodyPr>
          <a:lstStyle/>
          <a:p>
            <a:pPr marL="0" indent="0" algn="just">
              <a:buNone/>
            </a:pPr>
            <a:r>
              <a:rPr lang="de-DE" sz="3600" dirty="0">
                <a:solidFill>
                  <a:schemeClr val="bg1"/>
                </a:solidFill>
              </a:rPr>
              <a:t>O Herr, mein Gott! Preis und Danksagung sei Dir, denn Du hast mich auf die Straße des Königreiches geleitet. Du </a:t>
            </a:r>
            <a:r>
              <a:rPr lang="de-DE" sz="3600" dirty="0" err="1">
                <a:solidFill>
                  <a:schemeClr val="bg1"/>
                </a:solidFill>
              </a:rPr>
              <a:t>lässest</a:t>
            </a:r>
            <a:r>
              <a:rPr lang="de-DE" sz="3600" dirty="0">
                <a:solidFill>
                  <a:schemeClr val="bg1"/>
                </a:solidFill>
              </a:rPr>
              <a:t> mich wandeln auf diesem geraden, weitreichenden Pfade, Du erleuchtest meine Augen durch den Anblick Deines strahlenden Lichtes. Mein Ohr </a:t>
            </a:r>
            <a:r>
              <a:rPr lang="de-DE" sz="3600" dirty="0" err="1">
                <a:solidFill>
                  <a:schemeClr val="bg1"/>
                </a:solidFill>
              </a:rPr>
              <a:t>lässest</a:t>
            </a:r>
            <a:r>
              <a:rPr lang="de-DE" sz="3600" dirty="0">
                <a:solidFill>
                  <a:schemeClr val="bg1"/>
                </a:solidFill>
              </a:rPr>
              <a:t> Du den Liedern der Vögel der Heiligkeit lauschen, mein Herz ziehst Du an durch Deine Liebe unter den Gerechten.</a:t>
            </a:r>
          </a:p>
          <a:p>
            <a:pPr marL="0" indent="0" algn="just">
              <a:buNone/>
            </a:pPr>
            <a:r>
              <a:rPr lang="de-DE" sz="3600" dirty="0">
                <a:solidFill>
                  <a:schemeClr val="bg1"/>
                </a:solidFill>
              </a:rPr>
              <a:t>O Herr! Stärke mich durch den Heiligen Geist, dass ich in Deinem Namen unter den Völkern rufe und die frohe Botschaft der Offenbarung Deines Reiches unter den Menschen verkünde.</a:t>
            </a:r>
          </a:p>
          <a:p>
            <a:pPr marL="0" indent="0" algn="just">
              <a:buNone/>
            </a:pPr>
            <a:r>
              <a:rPr lang="de-DE" sz="3600" dirty="0">
                <a:solidFill>
                  <a:schemeClr val="bg1"/>
                </a:solidFill>
              </a:rPr>
              <a:t>O Herr! Ich bin schwach, stärke mich mit Deiner Kraft und Macht. Lass meine stammelnde Zunge Deiner gedenken und Deinen Lobpreis künden. Ich bin niedrig, zeichne mich aus durch den Eintritt in Dein Reich. Ich bin fern, lass mich der Schwelle Deines Erbarmens näher kommen. O Herr! Mache mich zu einer leuchtenden Lampe, einem strahlenden Stern und einem gesegneten Baum, mit Früchten behangen, dessen Zweige all diese Gefilde überschatten. Wahrlich, Du bist der Mächtige, der Gewaltige, der </a:t>
            </a:r>
            <a:r>
              <a:rPr lang="de-DE" sz="3600" dirty="0" err="1">
                <a:solidFill>
                  <a:schemeClr val="bg1"/>
                </a:solidFill>
              </a:rPr>
              <a:t>Unbezwungene</a:t>
            </a:r>
            <a:r>
              <a:rPr lang="de-DE" sz="3600" dirty="0">
                <a:solidFill>
                  <a:schemeClr val="bg1"/>
                </a:solidFill>
              </a:rPr>
              <a:t>.</a:t>
            </a:r>
          </a:p>
          <a:p>
            <a:pPr marL="3657600" lvl="8" indent="0">
              <a:buNone/>
            </a:pPr>
            <a:r>
              <a:rPr lang="de-DE" sz="2600" dirty="0" smtClean="0">
                <a:solidFill>
                  <a:schemeClr val="bg1"/>
                </a:solidFill>
              </a:rPr>
              <a:t>					</a:t>
            </a:r>
            <a:r>
              <a:rPr lang="de-DE" sz="2000" dirty="0" smtClean="0">
                <a:solidFill>
                  <a:schemeClr val="bg1"/>
                </a:solidFill>
              </a:rPr>
              <a:t>'ABDU'L-BAHÁ</a:t>
            </a:r>
            <a:endParaRPr lang="de-DE" sz="2000" dirty="0">
              <a:solidFill>
                <a:schemeClr val="bg1"/>
              </a:solidFill>
            </a:endParaRPr>
          </a:p>
        </p:txBody>
      </p:sp>
    </p:spTree>
    <p:extLst>
      <p:ext uri="{BB962C8B-B14F-4D97-AF65-F5344CB8AC3E}">
        <p14:creationId xmlns:p14="http://schemas.microsoft.com/office/powerpoint/2010/main" val="211527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1046747" y="1068224"/>
            <a:ext cx="10295021" cy="4097335"/>
          </a:xfrm>
          <a:solidFill>
            <a:schemeClr val="tx1">
              <a:lumMod val="95000"/>
              <a:lumOff val="5000"/>
              <a:alpha val="50000"/>
            </a:schemeClr>
          </a:solidFill>
        </p:spPr>
        <p:txBody>
          <a:bodyPr vert="horz" lIns="91440" tIns="45720" rIns="91440" bIns="45720" rtlCol="0">
            <a:normAutofit/>
          </a:bodyPr>
          <a:lstStyle/>
          <a:p>
            <a:pPr marL="0" indent="0" algn="ctr">
              <a:buNone/>
            </a:pPr>
            <a:r>
              <a:rPr lang="de-DE" sz="4600" b="1" dirty="0">
                <a:solidFill>
                  <a:schemeClr val="bg1">
                    <a:lumMod val="95000"/>
                  </a:schemeClr>
                </a:solidFill>
              </a:rPr>
              <a:t>Offenes Gebet:</a:t>
            </a:r>
            <a:br>
              <a:rPr lang="de-DE" sz="4600" b="1" dirty="0">
                <a:solidFill>
                  <a:schemeClr val="bg1">
                    <a:lumMod val="95000"/>
                  </a:schemeClr>
                </a:solidFill>
              </a:rPr>
            </a:br>
            <a:endParaRPr lang="de-DE" sz="4600" b="1" dirty="0" smtClean="0">
              <a:solidFill>
                <a:schemeClr val="bg1">
                  <a:lumMod val="95000"/>
                </a:schemeClr>
              </a:solidFill>
            </a:endParaRPr>
          </a:p>
          <a:p>
            <a:pPr marL="0" indent="0" algn="ctr">
              <a:buNone/>
            </a:pPr>
            <a:r>
              <a:rPr lang="de-DE" sz="3600" dirty="0" smtClean="0">
                <a:solidFill>
                  <a:schemeClr val="bg1">
                    <a:lumMod val="95000"/>
                  </a:schemeClr>
                </a:solidFill>
              </a:rPr>
              <a:t>Jeder </a:t>
            </a:r>
            <a:r>
              <a:rPr lang="de-DE" sz="3600" dirty="0">
                <a:solidFill>
                  <a:schemeClr val="bg1">
                    <a:lumMod val="95000"/>
                  </a:schemeClr>
                </a:solidFill>
              </a:rPr>
              <a:t>ist eingeladen, ein Gebet oder Zitat seiner Wahl </a:t>
            </a:r>
            <a:br>
              <a:rPr lang="de-DE" sz="3600" dirty="0">
                <a:solidFill>
                  <a:schemeClr val="bg1">
                    <a:lumMod val="95000"/>
                  </a:schemeClr>
                </a:solidFill>
              </a:rPr>
            </a:br>
            <a:r>
              <a:rPr lang="de-DE" sz="3600" dirty="0">
                <a:solidFill>
                  <a:schemeClr val="bg1">
                    <a:lumMod val="95000"/>
                  </a:schemeClr>
                </a:solidFill>
              </a:rPr>
              <a:t>zu lesen, zu singen oder zu sprechen.</a:t>
            </a:r>
          </a:p>
        </p:txBody>
      </p:sp>
    </p:spTree>
    <p:extLst>
      <p:ext uri="{BB962C8B-B14F-4D97-AF65-F5344CB8AC3E}">
        <p14:creationId xmlns:p14="http://schemas.microsoft.com/office/powerpoint/2010/main" val="260404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946483"/>
            <a:ext cx="10515600" cy="4829429"/>
          </a:xfrm>
          <a:solidFill>
            <a:schemeClr val="tx1">
              <a:lumMod val="95000"/>
              <a:lumOff val="5000"/>
              <a:alpha val="50000"/>
            </a:schemeClr>
          </a:solidFill>
        </p:spPr>
        <p:txBody>
          <a:bodyPr vert="horz" lIns="91440" tIns="45720" rIns="91440" bIns="45720" rtlCol="0">
            <a:normAutofit fontScale="85000" lnSpcReduction="20000"/>
          </a:bodyPr>
          <a:lstStyle/>
          <a:p>
            <a:pPr marL="0" lvl="8" indent="0" algn="just">
              <a:buNone/>
            </a:pPr>
            <a:r>
              <a:rPr lang="de-DE" sz="2800" dirty="0">
                <a:solidFill>
                  <a:schemeClr val="bg1"/>
                </a:solidFill>
              </a:rPr>
              <a:t>Sei freigebig im Glück und dankbar im Unglück. Sei des Vertrauens deines Nächsten wert und schaue hellen und freundlichen Auges auf ihn. Sei ein Schatz dem Armen, ein Mahner dem Reichen, eine Antwort auf den Schrei des Bedürftigen, und halte dein Versprechen heilig. Sei gerecht in deinem Urteil und behutsam in deiner Rede. Sei zu keinem Menschen ungerecht und erweise allen Sanftmut. Sei wie eine Lampe für die, so im Dunkeln gehen, eine Freude den Betrübten, ein Meer für die Dürstenden, ein schützender Port für die Bedrängten, Stütze und Verteidiger für das Opfer der Unterdrückung. </a:t>
            </a:r>
            <a:r>
              <a:rPr lang="de-DE" sz="2800" dirty="0" smtClean="0">
                <a:solidFill>
                  <a:schemeClr val="bg1"/>
                </a:solidFill>
              </a:rPr>
              <a:t>Lass </a:t>
            </a:r>
            <a:r>
              <a:rPr lang="de-DE" sz="2800" dirty="0">
                <a:solidFill>
                  <a:schemeClr val="bg1"/>
                </a:solidFill>
              </a:rPr>
              <a:t>Lauterkeit und Redlichkeit all dein Handeln auszeichnen. Sei ein Heim dem Fremdling, ein Balsam dem Leidenden, dem Flüchtling ein starker Turm. Sei dem Blinden Auge und ein Licht der Führung für den Fuß des Irrenden. Sei ein Schmuck für das Antlitz der Wahrheit, eine Krone für die Stirn der Treue, ein Pfeiler im Tempel der Rechtschaffenheit, Lebenshauch dem Körper der Menschheit, ein Banner für die Heerscharen der Gerechtigkeit, ein Himmelslicht am Horizont der Tugend, Tau für den Urgrund des Menschenherzens, eine Arche auf dem Meer der Erkenntnis, eine Sonne am Himmel der Großmut, ein Stein im Diadem der Weisheit, ein strahlendes Licht am Firmament deiner Zeitgenossen, eine Frucht am Baume der Demut.</a:t>
            </a:r>
            <a:r>
              <a:rPr lang="de-DE" sz="2600" dirty="0" smtClean="0">
                <a:solidFill>
                  <a:schemeClr val="bg1">
                    <a:lumMod val="95000"/>
                  </a:schemeClr>
                </a:solidFill>
              </a:rPr>
              <a:t>					 									</a:t>
            </a:r>
            <a:r>
              <a:rPr lang="de-DE" sz="2000" dirty="0" smtClean="0">
                <a:solidFill>
                  <a:schemeClr val="bg1">
                    <a:lumMod val="95000"/>
                  </a:schemeClr>
                </a:solidFill>
              </a:rPr>
              <a:t>BAHÁ’U’LLÁH</a:t>
            </a:r>
            <a:endParaRPr lang="de-DE" sz="2000" dirty="0">
              <a:solidFill>
                <a:schemeClr val="bg1">
                  <a:lumMod val="95000"/>
                </a:schemeClr>
              </a:solidFill>
            </a:endParaRPr>
          </a:p>
        </p:txBody>
      </p:sp>
    </p:spTree>
    <p:extLst>
      <p:ext uri="{BB962C8B-B14F-4D97-AF65-F5344CB8AC3E}">
        <p14:creationId xmlns:p14="http://schemas.microsoft.com/office/powerpoint/2010/main" val="144682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tertitel 2"/>
          <p:cNvSpPr>
            <a:spLocks noGrp="1"/>
          </p:cNvSpPr>
          <p:nvPr>
            <p:ph idx="1"/>
          </p:nvPr>
        </p:nvSpPr>
        <p:spPr>
          <a:xfrm>
            <a:off x="838200" y="834190"/>
            <a:ext cx="10515600" cy="5342774"/>
          </a:xfrm>
          <a:solidFill>
            <a:schemeClr val="tx1">
              <a:lumMod val="95000"/>
              <a:lumOff val="5000"/>
              <a:alpha val="50000"/>
            </a:schemeClr>
          </a:solidFill>
        </p:spPr>
        <p:txBody>
          <a:bodyPr vert="horz" lIns="91440" tIns="45720" rIns="91440" bIns="45720" rtlCol="0">
            <a:normAutofit/>
          </a:bodyPr>
          <a:lstStyle/>
          <a:p>
            <a:pPr marL="0" indent="0" algn="ctr">
              <a:buNone/>
            </a:pPr>
            <a:r>
              <a:rPr lang="de-DE" sz="4600" b="1" dirty="0" smtClean="0">
                <a:solidFill>
                  <a:schemeClr val="bg1">
                    <a:lumMod val="95000"/>
                  </a:schemeClr>
                </a:solidFill>
              </a:rPr>
              <a:t>Musik:</a:t>
            </a:r>
          </a:p>
          <a:p>
            <a:pPr marL="0" indent="0">
              <a:buNone/>
            </a:pPr>
            <a:endParaRPr lang="de-DE" sz="3600" dirty="0">
              <a:solidFill>
                <a:schemeClr val="bg1">
                  <a:lumMod val="95000"/>
                </a:schemeClr>
              </a:solidFill>
            </a:endParaRPr>
          </a:p>
          <a:p>
            <a:pPr marL="0" indent="0" algn="ctr">
              <a:buNone/>
            </a:pPr>
            <a:r>
              <a:rPr lang="en-US" dirty="0">
                <a:solidFill>
                  <a:schemeClr val="bg1"/>
                </a:solidFill>
              </a:rPr>
              <a:t>He whom the grace of Thy mercy </a:t>
            </a:r>
            <a:r>
              <a:rPr lang="en-US" dirty="0" err="1">
                <a:solidFill>
                  <a:schemeClr val="bg1"/>
                </a:solidFill>
              </a:rPr>
              <a:t>aideth</a:t>
            </a:r>
            <a:r>
              <a:rPr lang="en-US" dirty="0">
                <a:solidFill>
                  <a:schemeClr val="bg1"/>
                </a:solidFill>
              </a:rPr>
              <a:t>, though he be but a drop,</a:t>
            </a:r>
            <a:endParaRPr lang="de-DE" dirty="0">
              <a:solidFill>
                <a:schemeClr val="bg1"/>
              </a:solidFill>
            </a:endParaRPr>
          </a:p>
          <a:p>
            <a:pPr marL="0" indent="0" algn="ctr">
              <a:buNone/>
            </a:pPr>
            <a:r>
              <a:rPr lang="en-US" dirty="0">
                <a:solidFill>
                  <a:schemeClr val="bg1"/>
                </a:solidFill>
              </a:rPr>
              <a:t>shall become a boundless ocean, though he be but a drop,</a:t>
            </a:r>
            <a:endParaRPr lang="de-DE" dirty="0">
              <a:solidFill>
                <a:schemeClr val="bg1"/>
              </a:solidFill>
            </a:endParaRPr>
          </a:p>
          <a:p>
            <a:pPr marL="0" indent="0" algn="ctr">
              <a:buNone/>
            </a:pPr>
            <a:r>
              <a:rPr lang="en-US" dirty="0">
                <a:solidFill>
                  <a:schemeClr val="bg1"/>
                </a:solidFill>
              </a:rPr>
              <a:t>||: he shall </a:t>
            </a:r>
            <a:r>
              <a:rPr lang="en-US" dirty="0" err="1">
                <a:solidFill>
                  <a:schemeClr val="bg1"/>
                </a:solidFill>
              </a:rPr>
              <a:t>shi</a:t>
            </a:r>
            <a:r>
              <a:rPr lang="en-US" dirty="0">
                <a:solidFill>
                  <a:schemeClr val="bg1"/>
                </a:solidFill>
              </a:rPr>
              <a:t> – </a:t>
            </a:r>
            <a:r>
              <a:rPr lang="en-US" dirty="0" err="1">
                <a:solidFill>
                  <a:schemeClr val="bg1"/>
                </a:solidFill>
              </a:rPr>
              <a:t>i</a:t>
            </a:r>
            <a:r>
              <a:rPr lang="en-US" dirty="0">
                <a:solidFill>
                  <a:schemeClr val="bg1"/>
                </a:solidFill>
              </a:rPr>
              <a:t> – </a:t>
            </a:r>
            <a:r>
              <a:rPr lang="en-US" dirty="0" err="1">
                <a:solidFill>
                  <a:schemeClr val="bg1"/>
                </a:solidFill>
              </a:rPr>
              <a:t>i</a:t>
            </a:r>
            <a:r>
              <a:rPr lang="en-US" dirty="0">
                <a:solidFill>
                  <a:schemeClr val="bg1"/>
                </a:solidFill>
              </a:rPr>
              <a:t> – </a:t>
            </a:r>
            <a:r>
              <a:rPr lang="en-US" dirty="0" err="1">
                <a:solidFill>
                  <a:schemeClr val="bg1"/>
                </a:solidFill>
              </a:rPr>
              <a:t>i</a:t>
            </a:r>
            <a:r>
              <a:rPr lang="en-US" dirty="0">
                <a:solidFill>
                  <a:schemeClr val="bg1"/>
                </a:solidFill>
              </a:rPr>
              <a:t>- </a:t>
            </a:r>
            <a:r>
              <a:rPr lang="en-US" dirty="0" err="1">
                <a:solidFill>
                  <a:schemeClr val="bg1"/>
                </a:solidFill>
              </a:rPr>
              <a:t>ine</a:t>
            </a:r>
            <a:r>
              <a:rPr lang="en-US" dirty="0">
                <a:solidFill>
                  <a:schemeClr val="bg1"/>
                </a:solidFill>
              </a:rPr>
              <a:t> :||</a:t>
            </a:r>
            <a:endParaRPr lang="de-DE" dirty="0">
              <a:solidFill>
                <a:schemeClr val="bg1"/>
              </a:solidFill>
            </a:endParaRPr>
          </a:p>
          <a:p>
            <a:pPr marL="0" indent="0" algn="ctr">
              <a:buNone/>
            </a:pPr>
            <a:r>
              <a:rPr lang="en-US" dirty="0">
                <a:solidFill>
                  <a:schemeClr val="bg1"/>
                </a:solidFill>
              </a:rPr>
              <a:t>||: even as a radiant star. (</a:t>
            </a:r>
            <a:r>
              <a:rPr lang="en-US" dirty="0" err="1">
                <a:solidFill>
                  <a:schemeClr val="bg1"/>
                </a:solidFill>
              </a:rPr>
              <a:t>clapclap</a:t>
            </a:r>
            <a:r>
              <a:rPr lang="en-US" dirty="0">
                <a:solidFill>
                  <a:schemeClr val="bg1"/>
                </a:solidFill>
              </a:rPr>
              <a:t> – </a:t>
            </a:r>
            <a:r>
              <a:rPr lang="en-US" dirty="0" err="1">
                <a:solidFill>
                  <a:schemeClr val="bg1"/>
                </a:solidFill>
              </a:rPr>
              <a:t>clapclap</a:t>
            </a:r>
            <a:r>
              <a:rPr lang="en-US" dirty="0">
                <a:solidFill>
                  <a:schemeClr val="bg1"/>
                </a:solidFill>
              </a:rPr>
              <a:t>) :||</a:t>
            </a:r>
            <a:endParaRPr lang="de-DE" dirty="0">
              <a:solidFill>
                <a:schemeClr val="bg1"/>
              </a:solidFill>
            </a:endParaRPr>
          </a:p>
          <a:p>
            <a:pPr marL="0" indent="0" algn="ctr">
              <a:buNone/>
            </a:pPr>
            <a:r>
              <a:rPr lang="en-US" dirty="0">
                <a:solidFill>
                  <a:schemeClr val="bg1"/>
                </a:solidFill>
              </a:rPr>
              <a:t>Even as a radiant, even as a radiant </a:t>
            </a:r>
            <a:r>
              <a:rPr lang="en-US" dirty="0" smtClean="0">
                <a:solidFill>
                  <a:schemeClr val="bg1"/>
                </a:solidFill>
              </a:rPr>
              <a:t>star.</a:t>
            </a:r>
            <a:endParaRPr lang="de-DE" dirty="0">
              <a:solidFill>
                <a:schemeClr val="bg1"/>
              </a:solidFill>
            </a:endParaRPr>
          </a:p>
          <a:p>
            <a:pPr marL="0" indent="0" algn="r">
              <a:buNone/>
            </a:pPr>
            <a:r>
              <a:rPr lang="de-DE" sz="2000" dirty="0" smtClean="0">
                <a:solidFill>
                  <a:schemeClr val="bg1">
                    <a:lumMod val="95000"/>
                  </a:schemeClr>
                </a:solidFill>
              </a:rPr>
              <a:t>'ABDU'L-BAHÁ</a:t>
            </a:r>
            <a:endParaRPr lang="de-DE" sz="2000" dirty="0">
              <a:solidFill>
                <a:schemeClr val="bg1">
                  <a:lumMod val="95000"/>
                </a:schemeClr>
              </a:solidFill>
            </a:endParaRPr>
          </a:p>
          <a:p>
            <a:pPr marL="0" indent="0">
              <a:buNone/>
            </a:pPr>
            <a:endParaRPr lang="de-DE" sz="3600" dirty="0" smtClean="0">
              <a:solidFill>
                <a:schemeClr val="bg1">
                  <a:lumMod val="95000"/>
                </a:schemeClr>
              </a:solidFill>
            </a:endParaRPr>
          </a:p>
          <a:p>
            <a:pPr marL="0" indent="0">
              <a:buNone/>
            </a:pPr>
            <a:endParaRPr lang="de-DE" sz="2000" dirty="0">
              <a:solidFill>
                <a:schemeClr val="bg1">
                  <a:lumMod val="95000"/>
                </a:schemeClr>
              </a:solidFill>
            </a:endParaRPr>
          </a:p>
        </p:txBody>
      </p:sp>
    </p:spTree>
    <p:extLst>
      <p:ext uri="{BB962C8B-B14F-4D97-AF65-F5344CB8AC3E}">
        <p14:creationId xmlns:p14="http://schemas.microsoft.com/office/powerpoint/2010/main" val="272127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1502</Words>
  <Application>Microsoft Office PowerPoint</Application>
  <PresentationFormat>Breitbild</PresentationFormat>
  <Paragraphs>57</Paragraphs>
  <Slides>14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14</vt:i4>
      </vt:variant>
    </vt:vector>
  </HeadingPairs>
  <TitlesOfParts>
    <vt:vector size="18" baseType="lpstr">
      <vt:lpstr>Arial</vt:lpstr>
      <vt:lpstr>Calibri</vt:lpstr>
      <vt:lpstr>Calibri Light</vt:lpstr>
      <vt:lpstr>Office</vt:lpstr>
      <vt:lpstr>Soul-Food Andacht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Markgraf, Saskia</dc:creator>
  <cp:lastModifiedBy>Katrin Modabber</cp:lastModifiedBy>
  <cp:revision>42</cp:revision>
  <dcterms:created xsi:type="dcterms:W3CDTF">2021-04-09T15:16:48Z</dcterms:created>
  <dcterms:modified xsi:type="dcterms:W3CDTF">2022-02-03T18:49:58Z</dcterms:modified>
</cp:coreProperties>
</file>